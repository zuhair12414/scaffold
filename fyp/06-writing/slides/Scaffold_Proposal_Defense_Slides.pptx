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name, the one-line problem, and the team. Emphasize: this targets the 'vibe coding' habit in programming labs, not a generic AI-tutor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concretely: who is affected, what they currently do, and why the existing workflow is invisible to instructors. This motivates the need for a system that can see and respond to the process, not just the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dimension by dimension. The key line to land: ClassAid is the closest system, and it still needs an instructor to manually switch modes. Nobody automates the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clusters of prior work, each contributing one piece of the puzzle, none combining them. This sets up the gap statement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if the committee pushes back on complexity. Every row shows a course-project baseline versus what Scaffold actually requires, across five different dimensions of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bottom-to-top or top-to-bottom once, then land on the contribution box. This is the single slide a committee member would point to if asked 'what exactly are you building.'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the POC-lite is a UI shell only. The technical spikes are what actually prove feasibility. Recommend leading with Spike A during the defense since it is the lowest-effort, highest-signal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study design diagram first (three conditions, shared outcome measures), then pivot to the top three risks and the GenAI usage boundary, which the committee will specifically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owns a vertical slice end-to-end across both semesters, so no one is blocked waiting on another's deliverable. Weekly stand-ups and bi-weekly supervisor check-ins keep the timeline honest; Months 5-6 and Month 10 carry deliberate slack.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slide with the bolded commitment at the bottom — it directly answers the most common objection committees raise about classroom AI studies: whether student data collection is properly safeguarded.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27432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1371600"/>
            <a:ext cx="1005840" cy="1005840"/>
          </a:xfrm>
          <a:prstGeom prst="ellipse">
            <a:avLst/>
          </a:prstGeom>
          <a:solidFill>
            <a:srgbClr val="F2A623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Knowledge-State-Driven Adaptive Scaffolding for Programming Labs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students learn to code — not just submit code that runs.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7724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434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4434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 — [Full name] (ML Engineer)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— [Full name] (Systems Engineer)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 — [Full name] (Full-stack + Research)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9320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50932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full name], Department of Computer Science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75157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575157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Science, FAST NUCES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“vibe coding” in the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6309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Who has the problem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Undergraduate students in lab-based programming courses (target: C++ Data Structures), and the instructors who must assess genuine skill development.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Current workflow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Paste the lab problem into ChatGPT / Copilot Chat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Copy the returned solution with minimal independent reasoning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Submit code that runs, but was never understood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Why it matters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Displaces the “productive struggle” known to drive durable skill acquisition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Invisible to instructors — a passing submission looks identical either way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Gaps in fundamentals surface later, in harder courses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06640" y="1234440"/>
            <a:ext cx="4297680" cy="4892040"/>
          </a:xfrm>
          <a:prstGeom prst="roundRect">
            <a:avLst>
              <a:gd name="adj" fmla="val 2128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3524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19659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5F5E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90688" y="196596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problem statement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55480" y="2532888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80960" y="27889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5F5E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90688" y="278892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into AI chat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55480" y="3355848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36118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5F5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90688" y="361188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copy-pasted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55480" y="4178808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80960" y="44348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A32D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90688" y="443484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— runs, ungraded for understanding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5303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reaches the instructor about whether learning occurred.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systems fall short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CodeHelp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(CHI'24)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(CHI'26)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project)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knowledge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6D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BKT / DKT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switches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6D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(struggle detection)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prevention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guardrail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6D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Graduated policy + AST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Inactivity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6D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telemetry-driven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6D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persists across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Real gap: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no existing system automatically calibrates hint specificity to a live, per-student knowledge model.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5961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FYP archive search finds no directly overlapping prior project (proposal Sec. 2.2).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tells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88820" y="1234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888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tutoring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</a:rPr>
              <a:t>Representative works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CodeHelp, CodeAid, STAP, ClassAid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</a:rPr>
              <a:t>What we learned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</a:rPr>
              <a:t>Prompt guardrails reduce leakage, but no system holds a knowledge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20740" y="12344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207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tracing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25603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74320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65A82"/>
                </a:solidFill>
              </a:rPr>
              <a:t>Representative works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Code-DKT, DPKT, pyBKT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65A82"/>
                </a:solidFill>
              </a:rPr>
              <a:t>What we learned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</a:rPr>
              <a:t>Predicts mastery accurately — but only offline; never feeds a live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52660" y="1234440"/>
            <a:ext cx="640080" cy="640080"/>
          </a:xfrm>
          <a:prstGeom prst="ellipse">
            <a:avLst/>
          </a:prstGeom>
          <a:solidFill>
            <a:srgbClr val="F2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526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Pedagogical alignment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66760" y="25603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0" y="274320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2A623"/>
                </a:solidFill>
              </a:rPr>
              <a:t>Representative works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TutorRL / PedagogicalRL, PEARL, SocraticLM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2A623"/>
                </a:solidFill>
              </a:rPr>
              <a:t>What we learned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</a:rPr>
              <a:t>RL/DPO can bake tutor behavior into weights — but only ever tried on math.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papers reviewed (2015–2026) across CHI, SIGCSE, EDM, AIED, ACL, EACL, AAAI — full list in proposal Appendix 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not a course project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420624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  <a:gridCol w="51206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Course-project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Scaffold's actual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an LLM API with a system prompt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and empirically compare BKT, DKT, and a novel telemetry-enriched DKT variant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Single-user CRUD web app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event pipeline for 40–60 concurrent students, &lt;200ms capture latency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NLP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prompt injecting a live knowledge-state vector, plus a DPO fine-tuning experiment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demo to supervisor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IRB-approved, 3-condition, within-subjects controlled classroom study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auth, input validation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Graduated AST-similarity leakage detector + adversarial jailbreak classifier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KT-conditioned, proactively triggered scaffolding beat reactive, student-model-blind assistance?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and contribution</a:t>
            </a:r>
            <a:endParaRPr lang="en-US" sz="3000" dirty="0"/>
          </a:p>
        </p:txBody>
      </p:sp>
      <p:pic>
        <p:nvPicPr>
          <p:cNvPr id="3" name="Image 0" descr="/home/claude/scaffold_defense/imag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6766560" cy="50441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60920" y="12344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Five-layer closed loop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360920" y="16916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feeds struggle detection, which feeds a live knowledge-tracing model, which conditions LLM hint generation, filtered through a leakage guardrail, and surfaced to instructors.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60920" y="3063240"/>
            <a:ext cx="4343400" cy="3063240"/>
          </a:xfrm>
          <a:prstGeom prst="roundRect">
            <a:avLst>
              <a:gd name="adj" fmla="val 2985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3246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statement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657600"/>
            <a:ext cx="38862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system closing the loop between real-time IDE telemetry, programming knowledge tracing, and knowledge-state-conditioned LLM hints, with a graduated leakage policy — evaluated through a controlled classroom study.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the first application of preference-based pedagogical alignment (DPO) to code tutoring.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show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IDE view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hint panel, live mastery sidebar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371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mastery heatmap, per-student drill-down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371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 mastery trend, recommendations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0" y="1371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1920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data-flow across all 5 layers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1089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Clickable, high-fidelity interface — every screen above uses mock data behind it. It demonstrates the experience, not yet the algorithms.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spikes (feasibility evidence beyond the UI)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1115568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4023360"/>
                <a:gridCol w="18288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KT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BKT on CSEDM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AUC + mastery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Telemetry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Monaco events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recording of live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End-to-end hint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KT state → LLM → hint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generated hint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success, and what could go wrong</a:t>
            </a:r>
            <a:endParaRPr lang="en-US" sz="3000" dirty="0"/>
          </a:p>
        </p:txBody>
      </p:sp>
      <p:pic>
        <p:nvPicPr>
          <p:cNvPr id="3" name="Image 0" descr="/home/claude/scaffold_defense/images/study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309360" cy="3212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949440" y="1645920"/>
            <a:ext cx="109728" cy="777240"/>
          </a:xfrm>
          <a:prstGeom prst="roundRect">
            <a:avLst/>
          </a:prstGeom>
          <a:solidFill>
            <a:srgbClr val="F2A6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6459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</a:rPr>
              <a:t>Ethics approval delayed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Submit in Month 2, not Month 8; convenience-sample fallback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49440" y="2560320"/>
            <a:ext cx="109728" cy="777240"/>
          </a:xfrm>
          <a:prstGeom prst="roundRect">
            <a:avLst/>
          </a:prstGeom>
          <a:solidFill>
            <a:srgbClr val="F2A62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78040" y="25603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</a:rPr>
              <a:t>Qwen2.5-Coder-7B hint quality too low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Fall back to a commercial API for the study only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49440" y="3474720"/>
            <a:ext cx="109728" cy="777240"/>
          </a:xfrm>
          <a:prstGeom prst="roundRect">
            <a:avLst/>
          </a:prstGeom>
          <a:solidFill>
            <a:srgbClr val="F2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34747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</a:rPr>
              <a:t>DPO experiment does not converge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Secondary only — Track A study stands alone as a complete thesis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49440" y="44805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459028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</a:rPr>
              <a:t>Tool / API / GenAI boundary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Deployed system runs on the local RTX 3090 only. Commercial APIs (Claude/GPT-4) are used for development-time prototyping only — never in the live classroom study.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what, and when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8872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 — ML Engineer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S1: BKT baseline, DKT implementation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S2: Telemetry-enriched DKT, DPO experiment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18872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188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— Systems Engineer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8288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S1: Telemetry pipeline, struggle detector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S2: Instructor dashboard, backend integration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1887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366760" y="118872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2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49640" y="11887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 — Full-stack + Research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18288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S1: End-to-end hints, ethics application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</a:rPr>
              <a:t>S2: Guardrail layer, study execution, analysis</a:t>
            </a:r>
            <a:endParaRPr lang="en-US" sz="1050" dirty="0"/>
          </a:p>
        </p:txBody>
      </p:sp>
      <p:pic>
        <p:nvPicPr>
          <p:cNvPr id="15" name="Image 0" descr="/home/claude/scaffold_defense/images/timeline_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10881360" cy="299237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DEI, ethics, and legal safeguards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Diversity, Equity &amp; Inclusion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2222"/>
                </a:solidFill>
              </a:rPr>
              <a:t>Representation: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external KT training data (CSEDM) may embed bias; performance will be checked across self-reported prior-exposure groups and disparities reported openly.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2222"/>
                </a:solidFill>
              </a:rPr>
              <a:t>Accessibility: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</a:rPr>
              <a:t>keyboard navigability tested; students may opt out of telemetry analysis while still receiving full assistance.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280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&amp; Legal Compliance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2024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Informed consent + voluntary participation, no grade impact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Ethics/IRB approval sought Month 2, before any data collection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Data minimized, stored on university infrastructure only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KT mastery scores never shared with instructors for grading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Checked for demographic parity in KT predictions where data allows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data collection begins before written ethics approval is received.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FYP Proposal Defense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2026-09-07T19:08:52Z</dcterms:created>
  <dcterms:modified xsi:type="dcterms:W3CDTF">2026-09-07T19:08:52Z</dcterms:modified>
</cp:coreProperties>
</file>